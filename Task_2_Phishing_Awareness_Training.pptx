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Phishing Awareness Training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08760"/>
            <a:ext cx="10332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828800"/>
            <a:ext cx="9509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/>
            </a:pPr>
            <a:r>
              <a:t>Task 2: Cybersecurity Awareness</a:t>
            </a:r>
          </a:p>
          <a:p>
            <a:pPr algn="l">
              <a:spcAft>
                <a:spcPts val="1400"/>
              </a:spcAft>
              <a:defRPr sz="2200"/>
            </a:pPr>
            <a:r>
              <a:t>Name: Irsa Shahid</a:t>
            </a:r>
          </a:p>
          <a:p>
            <a:pPr algn="l">
              <a:spcAft>
                <a:spcPts val="1400"/>
              </a:spcAft>
              <a:defRPr sz="2200"/>
            </a:pPr>
            <a:r>
              <a:t>Semester: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Phishing Awareness Training  •  Task 2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What is Phishing?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08760"/>
            <a:ext cx="10332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828800"/>
            <a:ext cx="9509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/>
            </a:pPr>
            <a:r>
              <a:t>Phishing is a cyberattack that tricks people into sharing sensitive information.</a:t>
            </a:r>
          </a:p>
          <a:p>
            <a:pPr algn="l">
              <a:spcAft>
                <a:spcPts val="1400"/>
              </a:spcAft>
              <a:defRPr sz="2200"/>
            </a:pPr>
            <a:r>
              <a:t>Attackers may pretend to be banks, companies, teachers, friends, or other trusted people.</a:t>
            </a:r>
          </a:p>
          <a:p>
            <a:pPr algn="l">
              <a:spcAft>
                <a:spcPts val="1400"/>
              </a:spcAft>
              <a:defRPr sz="2200"/>
            </a:pPr>
            <a:r>
              <a:t>The goal can be stealing passwords, account details, money, or personal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Phishing Awareness Training  •  Task 2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How Phishing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08760"/>
            <a:ext cx="10332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828800"/>
            <a:ext cx="9509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/>
            </a:pPr>
            <a:r>
              <a:t>1. The attacker creates a fake email, message, or website.</a:t>
            </a:r>
          </a:p>
          <a:p>
            <a:pPr algn="l">
              <a:spcAft>
                <a:spcPts val="1400"/>
              </a:spcAft>
              <a:defRPr sz="2200"/>
            </a:pPr>
            <a:r>
              <a:t>2. The victim receives the message and is encouraged to act quickly.</a:t>
            </a:r>
          </a:p>
          <a:p>
            <a:pPr algn="l">
              <a:spcAft>
                <a:spcPts val="1400"/>
              </a:spcAft>
              <a:defRPr sz="2200"/>
            </a:pPr>
            <a:r>
              <a:t>3. The victim clicks a link, opens an attachment, or enters information.</a:t>
            </a:r>
          </a:p>
          <a:p>
            <a:pPr algn="l">
              <a:spcAft>
                <a:spcPts val="1400"/>
              </a:spcAft>
              <a:defRPr sz="2200"/>
            </a:pPr>
            <a:r>
              <a:t>4. The attacker may use the information for fraud or unauthorized access.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Phishing Awareness Training  •  Task 2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Recognizing Phishing Emails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08760"/>
            <a:ext cx="10332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828800"/>
            <a:ext cx="9509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/>
            </a:pPr>
            <a:r>
              <a:t>• Suspicious or unfamiliar sender address</a:t>
            </a:r>
          </a:p>
          <a:p>
            <a:pPr algn="l">
              <a:spcAft>
                <a:spcPts val="1400"/>
              </a:spcAft>
              <a:defRPr sz="2200"/>
            </a:pPr>
            <a:r>
              <a:t>• Urgent or threatening language</a:t>
            </a:r>
          </a:p>
          <a:p>
            <a:pPr algn="l">
              <a:spcAft>
                <a:spcPts val="1400"/>
              </a:spcAft>
              <a:defRPr sz="2200"/>
            </a:pPr>
            <a:r>
              <a:t>• Unexpected attachments or links</a:t>
            </a:r>
          </a:p>
          <a:p>
            <a:pPr algn="l">
              <a:spcAft>
                <a:spcPts val="1400"/>
              </a:spcAft>
              <a:defRPr sz="2200"/>
            </a:pPr>
            <a:r>
              <a:t>• Requests for passwords, codes, or financial information</a:t>
            </a:r>
          </a:p>
          <a:p>
            <a:pPr algn="l">
              <a:spcAft>
                <a:spcPts val="1400"/>
              </a:spcAft>
              <a:defRPr sz="2200"/>
            </a:pPr>
            <a:r>
              <a:t>• Spelling, grammar, or formatting mistakes</a:t>
            </a:r>
          </a:p>
          <a:p>
            <a:pPr algn="l">
              <a:spcAft>
                <a:spcPts val="1400"/>
              </a:spcAft>
              <a:defRPr sz="2200"/>
            </a:pPr>
            <a:r>
              <a:t>• Offers that seem too good to be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Phishing Awareness Training  •  Task 2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Recognizing Fake Websites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08760"/>
            <a:ext cx="10332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828800"/>
            <a:ext cx="9509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/>
            </a:pPr>
            <a:r>
              <a:t>• Check the website address carefully.</a:t>
            </a:r>
          </a:p>
          <a:p>
            <a:pPr algn="l">
              <a:spcAft>
                <a:spcPts val="1400"/>
              </a:spcAft>
              <a:defRPr sz="2200"/>
            </a:pPr>
            <a:r>
              <a:t>• Watch for misspelled or unusual domain names.</a:t>
            </a:r>
          </a:p>
          <a:p>
            <a:pPr algn="l">
              <a:spcAft>
                <a:spcPts val="1400"/>
              </a:spcAft>
              <a:defRPr sz="2200"/>
            </a:pPr>
            <a:r>
              <a:t>• Be careful with unexpected login or payment pages.</a:t>
            </a:r>
          </a:p>
          <a:p>
            <a:pPr algn="l">
              <a:spcAft>
                <a:spcPts val="1400"/>
              </a:spcAft>
              <a:defRPr sz="2200"/>
            </a:pPr>
            <a:r>
              <a:t>• Do not trust a page just because it looks professional.</a:t>
            </a:r>
          </a:p>
          <a:p>
            <a:pPr algn="l">
              <a:spcAft>
                <a:spcPts val="1400"/>
              </a:spcAft>
              <a:defRPr sz="2200"/>
            </a:pPr>
            <a:r>
              <a:t>• Type the official website address yourself when 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Phishing Awareness Training  •  Task 2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Social Engineering Tactics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08760"/>
            <a:ext cx="10332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828800"/>
            <a:ext cx="9509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/>
            </a:pPr>
            <a:r>
              <a:t>Attackers use psychological tricks to influence people.</a:t>
            </a:r>
          </a:p>
          <a:p>
            <a:pPr algn="l">
              <a:spcAft>
                <a:spcPts val="1400"/>
              </a:spcAft>
              <a:defRPr sz="2200"/>
            </a:pPr>
            <a:r>
              <a:t>• Urgency: “Act now!”</a:t>
            </a:r>
          </a:p>
          <a:p>
            <a:pPr algn="l">
              <a:spcAft>
                <a:spcPts val="1400"/>
              </a:spcAft>
              <a:defRPr sz="2200"/>
            </a:pPr>
            <a:r>
              <a:t>• Fear: “Your account will be closed.”</a:t>
            </a:r>
          </a:p>
          <a:p>
            <a:pPr algn="l">
              <a:spcAft>
                <a:spcPts val="1400"/>
              </a:spcAft>
              <a:defRPr sz="2200"/>
            </a:pPr>
            <a:r>
              <a:t>• Authority: Pretending to be a bank, teacher, or company.</a:t>
            </a:r>
          </a:p>
          <a:p>
            <a:pPr algn="l">
              <a:spcAft>
                <a:spcPts val="1400"/>
              </a:spcAft>
              <a:defRPr sz="2200"/>
            </a:pPr>
            <a:r>
              <a:t>• Reward: Fake prizes, discounts, or offers.</a:t>
            </a:r>
          </a:p>
          <a:p>
            <a:pPr algn="l">
              <a:spcAft>
                <a:spcPts val="1400"/>
              </a:spcAft>
              <a:defRPr sz="2200"/>
            </a:pPr>
            <a:r>
              <a:t>• Impersonation: Pretending to be someone you know.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Phishing Awareness Training  •  Task 2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Best Practices to Stay Safe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08760"/>
            <a:ext cx="10332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828800"/>
            <a:ext cx="9509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/>
            </a:pPr>
            <a:r>
              <a:t>• Think before you click.</a:t>
            </a:r>
          </a:p>
          <a:p>
            <a:pPr algn="l">
              <a:spcAft>
                <a:spcPts val="1400"/>
              </a:spcAft>
              <a:defRPr sz="2200"/>
            </a:pPr>
            <a:r>
              <a:t>• Verify the sender and request through a trusted channel.</a:t>
            </a:r>
          </a:p>
          <a:p>
            <a:pPr algn="l">
              <a:spcAft>
                <a:spcPts val="1400"/>
              </a:spcAft>
              <a:defRPr sz="2200"/>
            </a:pPr>
            <a:r>
              <a:t>• Check links and website addresses carefully.</a:t>
            </a:r>
          </a:p>
          <a:p>
            <a:pPr algn="l">
              <a:spcAft>
                <a:spcPts val="1400"/>
              </a:spcAft>
              <a:defRPr sz="2200"/>
            </a:pPr>
            <a:r>
              <a:t>• Never share passwords or verification codes through suspicious messages.</a:t>
            </a:r>
          </a:p>
          <a:p>
            <a:pPr algn="l">
              <a:spcAft>
                <a:spcPts val="1400"/>
              </a:spcAft>
              <a:defRPr sz="2200"/>
            </a:pPr>
            <a:r>
              <a:t>• Use strong, unique passwords and multi-factor authentication.</a:t>
            </a:r>
          </a:p>
          <a:p>
            <a:pPr algn="l">
              <a:spcAft>
                <a:spcPts val="1400"/>
              </a:spcAft>
              <a:defRPr sz="2200"/>
            </a:pPr>
            <a:r>
              <a:t>• Keep your browser and software updated.</a:t>
            </a:r>
          </a:p>
          <a:p>
            <a:pPr algn="l">
              <a:spcAft>
                <a:spcPts val="1400"/>
              </a:spcAft>
              <a:defRPr sz="2200"/>
            </a:pPr>
            <a:r>
              <a:t>• Report suspicious emails or messages.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Phishing Awareness Training  •  Task 2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Real-World Phishing Example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08760"/>
            <a:ext cx="10332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828800"/>
            <a:ext cx="9509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/>
            </a:pPr>
            <a:r>
              <a:t>Example: A message claims that your online account will be locked today unless you click a link and sign in.</a:t>
            </a:r>
          </a:p>
          <a:p>
            <a:pPr algn="l">
              <a:spcAft>
                <a:spcPts val="1400"/>
              </a:spcAft>
              <a:defRPr sz="2200"/>
            </a:pPr>
            <a:r>
              <a:t>Warning signs:</a:t>
            </a:r>
          </a:p>
          <a:p>
            <a:pPr algn="l">
              <a:spcAft>
                <a:spcPts val="1400"/>
              </a:spcAft>
              <a:defRPr sz="2200"/>
            </a:pPr>
            <a:r>
              <a:t>• Strong urgency</a:t>
            </a:r>
          </a:p>
          <a:p>
            <a:pPr algn="l">
              <a:spcAft>
                <a:spcPts val="1400"/>
              </a:spcAft>
              <a:defRPr sz="2200"/>
            </a:pPr>
            <a:r>
              <a:t>• Unexpected login request</a:t>
            </a:r>
          </a:p>
          <a:p>
            <a:pPr algn="l">
              <a:spcAft>
                <a:spcPts val="1400"/>
              </a:spcAft>
              <a:defRPr sz="2200"/>
            </a:pPr>
            <a:r>
              <a:t>• Unknown or suspicious link</a:t>
            </a:r>
          </a:p>
          <a:p>
            <a:pPr algn="l">
              <a:spcAft>
                <a:spcPts val="1400"/>
              </a:spcAft>
              <a:defRPr sz="2200"/>
            </a:pPr>
            <a:r>
              <a:t>Safe action: Do not use the message link. Open the official website separately and check your account.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Phishing Awareness Training  •  Task 2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Interactive Quiz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08760"/>
            <a:ext cx="10332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828800"/>
            <a:ext cx="9509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/>
            </a:pPr>
            <a:r>
              <a:t>Which is a common sign of phishing?</a:t>
            </a:r>
          </a:p>
          <a:p>
            <a:pPr algn="l">
              <a:spcAft>
                <a:spcPts val="1400"/>
              </a:spcAft>
              <a:defRPr sz="2200"/>
            </a:pPr>
            <a:r>
              <a:t>A. An urgent request for sensitive information</a:t>
            </a:r>
          </a:p>
          <a:p>
            <a:pPr algn="l">
              <a:spcAft>
                <a:spcPts val="1400"/>
              </a:spcAft>
              <a:defRPr sz="2200"/>
            </a:pPr>
            <a:r>
              <a:t>B. A normal message from a known contact</a:t>
            </a:r>
          </a:p>
          <a:p>
            <a:pPr algn="l">
              <a:spcAft>
                <a:spcPts val="1400"/>
              </a:spcAft>
              <a:defRPr sz="2200"/>
            </a:pPr>
            <a:r>
              <a:t>C. A routine notification you expected</a:t>
            </a:r>
          </a:p>
          <a:p>
            <a:pPr algn="l">
              <a:spcAft>
                <a:spcPts val="1400"/>
              </a:spcAft>
              <a:defRPr sz="2200"/>
            </a:pPr>
            <a:r>
              <a:t>D. A message you verified independently</a:t>
            </a:r>
          </a:p>
          <a:p>
            <a:pPr algn="l">
              <a:spcAft>
                <a:spcPts val="1400"/>
              </a:spcAft>
              <a:defRPr sz="2200"/>
            </a:pPr>
            <a:r>
              <a:t>Answer: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Phishing Awareness Training  •  Task 2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Interactive Quiz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08760"/>
            <a:ext cx="10332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828800"/>
            <a:ext cx="9509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/>
            </a:pPr>
            <a:r>
              <a:t>What should you do before clicking an unknown link?</a:t>
            </a:r>
          </a:p>
          <a:p>
            <a:pPr algn="l">
              <a:spcAft>
                <a:spcPts val="1400"/>
              </a:spcAft>
              <a:defRPr sz="2200"/>
            </a:pPr>
            <a:r>
              <a:t>A. Click it immediately</a:t>
            </a:r>
          </a:p>
          <a:p>
            <a:pPr algn="l">
              <a:spcAft>
                <a:spcPts val="1400"/>
              </a:spcAft>
              <a:defRPr sz="2200"/>
            </a:pPr>
            <a:r>
              <a:t>B. Verify the sender and link</a:t>
            </a:r>
          </a:p>
          <a:p>
            <a:pPr algn="l">
              <a:spcAft>
                <a:spcPts val="1400"/>
              </a:spcAft>
              <a:defRPr sz="2200"/>
            </a:pPr>
            <a:r>
              <a:t>C. Enter your password first</a:t>
            </a:r>
          </a:p>
          <a:p>
            <a:pPr algn="l">
              <a:spcAft>
                <a:spcPts val="1400"/>
              </a:spcAft>
              <a:defRPr sz="2200"/>
            </a:pPr>
            <a:r>
              <a:t>D. Forward it to everyone</a:t>
            </a:r>
          </a:p>
          <a:p>
            <a:pPr algn="l">
              <a:spcAft>
                <a:spcPts val="1400"/>
              </a:spcAft>
              <a:defRPr sz="2200"/>
            </a:pPr>
            <a:r>
              <a:t>Answer: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Phishing Awareness Training  •  Task 2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Interactive Quiz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08760"/>
            <a:ext cx="10332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828800"/>
            <a:ext cx="9509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/>
            </a:pPr>
            <a:r>
              <a:t>You receive a message asking for your verification code. What should you do?</a:t>
            </a:r>
          </a:p>
          <a:p>
            <a:pPr algn="l">
              <a:spcAft>
                <a:spcPts val="1400"/>
              </a:spcAft>
              <a:defRPr sz="2200"/>
            </a:pPr>
            <a:r>
              <a:t>A. Send the code</a:t>
            </a:r>
          </a:p>
          <a:p>
            <a:pPr algn="l">
              <a:spcAft>
                <a:spcPts val="1400"/>
              </a:spcAft>
              <a:defRPr sz="2200"/>
            </a:pPr>
            <a:r>
              <a:t>B. Share it only if the message looks professional</a:t>
            </a:r>
          </a:p>
          <a:p>
            <a:pPr algn="l">
              <a:spcAft>
                <a:spcPts val="1400"/>
              </a:spcAft>
              <a:defRPr sz="2200"/>
            </a:pPr>
            <a:r>
              <a:t>C. Do not share it and verify the request independently</a:t>
            </a:r>
          </a:p>
          <a:p>
            <a:pPr algn="l">
              <a:spcAft>
                <a:spcPts val="1400"/>
              </a:spcAft>
              <a:defRPr sz="2200"/>
            </a:pPr>
            <a:r>
              <a:t>D. Post it online</a:t>
            </a:r>
          </a:p>
          <a:p>
            <a:pPr algn="l">
              <a:spcAft>
                <a:spcPts val="1400"/>
              </a:spcAft>
              <a:defRPr sz="2200"/>
            </a:pPr>
            <a:r>
              <a:t>Answer: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Phishing Awareness Training  •  Task 2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08760"/>
            <a:ext cx="10332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828800"/>
            <a:ext cx="9509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/>
            </a:pPr>
            <a:r>
              <a:t>Phishing depends on deception and social engineering.</a:t>
            </a:r>
          </a:p>
          <a:p>
            <a:pPr algn="l">
              <a:spcAft>
                <a:spcPts val="1400"/>
              </a:spcAft>
              <a:defRPr sz="2200"/>
            </a:pPr>
            <a:r>
              <a:t>Learn to identify suspicious emails and fake websites.</a:t>
            </a:r>
          </a:p>
          <a:p>
            <a:pPr algn="l">
              <a:spcAft>
                <a:spcPts val="1400"/>
              </a:spcAft>
              <a:defRPr sz="2200"/>
            </a:pPr>
            <a:r>
              <a:t>Verify requests before taking action.</a:t>
            </a:r>
          </a:p>
          <a:p>
            <a:pPr algn="l">
              <a:spcAft>
                <a:spcPts val="1400"/>
              </a:spcAft>
              <a:defRPr sz="2200"/>
            </a:pPr>
            <a:r>
              <a:t>Protect passwords and verification codes.</a:t>
            </a:r>
          </a:p>
          <a:p>
            <a:pPr algn="l">
              <a:spcAft>
                <a:spcPts val="1400"/>
              </a:spcAft>
              <a:defRPr sz="2200"/>
            </a:pPr>
            <a:r>
              <a:t>Think before you click!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Phishing Awareness Training  •  Task 2  •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